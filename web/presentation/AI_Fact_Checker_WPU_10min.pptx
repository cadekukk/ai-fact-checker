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yourself, thank the host, state you will end with a clear source list for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sentences max. Then pivot: the story and the sources matter because detectors are shaky (listed next).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columns. If asked “where is this from?”, you already showed it. Offer to share the deck or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for applause. If tech fails, read URL aloud. Q&amp;A: data is curated; updated as the field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786384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0000"/>
                </a:solidFill>
              </a:defRPr>
            </a:pPr>
            <a:r>
              <a:t>AI Fact Checker</a:t>
            </a:r>
          </a:p>
          <a:p>
            <a:pPr>
              <a:spcBef>
                <a:spcPts val="1400"/>
              </a:spcBef>
              <a:defRPr sz="1600">
                <a:solidFill>
                  <a:srgbClr val="4A4A4A"/>
                </a:solidFill>
              </a:defRPr>
            </a:pPr>
            <a:r>
              <a:t>Cade Kukk  ·  West Pennsylvania University</a:t>
            </a:r>
          </a:p>
          <a:p>
            <a:pPr>
              <a:spcBef>
                <a:spcPts val="1000"/>
              </a:spcBef>
              <a:defRPr sz="1300">
                <a:solidFill>
                  <a:srgbClr val="6E6E6E"/>
                </a:solidFill>
              </a:defRPr>
            </a:pPr>
            <a:r>
              <a:t>~10 minutes  ·  verified, source-first reference on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480560"/>
            <a:ext cx="786384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black &amp; white deck  ·  sources on next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What it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4A4A4A"/>
                </a:solidFill>
              </a:defRPr>
            </a:pPr>
            <a:r>
              <a:t>A free web reference: major models, clear definitions, and fact checks — every claim tied to a primary source.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4A4A4A"/>
                </a:solidFill>
              </a:defRPr>
            </a:pPr>
            <a:r>
              <a:t>It is not an AI text detector. It is the opposite: look up what models are, with citations, before judging 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Sources (selected)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7589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A4A4A"/>
                </a:solidFill>
              </a:defRPr>
            </a:pPr>
            <a:r>
              <a:t>The same materials ground the in-app fact checks; use these for your own follow-up or syllabus.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3657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50" b="1">
                <a:solidFill>
                  <a:srgbClr val="000000"/>
                </a:solidFill>
              </a:rPr>
              <a:t>GPT detectors are biased against non-native English writers (Liang et al., 2023)
</a:t>
            </a:r>
            <a:r>
              <a:rPr sz="950">
                <a:solidFill>
                  <a:srgbClr val="6E6E6E"/>
                </a:solidFill>
              </a:rPr>
              <a:t>https://arxiv.org/abs/2304.02819
</a:t>
            </a:r>
            <a:r>
              <a:rPr sz="850" i="1">
                <a:solidFill>
                  <a:srgbClr val="6E6E6E"/>
                </a:solidFill>
              </a:rPr>
              <a:t>Preprint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00000"/>
                </a:solidFill>
              </a:rPr>
              <a:t>Can AI-Generated Text be Reliably Detected? (Sadasivan et al., 2023)
</a:t>
            </a:r>
            <a:r>
              <a:rPr sz="950">
                <a:solidFill>
                  <a:srgbClr val="6E6E6E"/>
                </a:solidFill>
              </a:rPr>
              <a:t>https://arxiv.org/abs/2303.11156
</a:t>
            </a:r>
            <a:r>
              <a:rPr sz="850" i="1">
                <a:solidFill>
                  <a:srgbClr val="6E6E6E"/>
                </a:solidFill>
              </a:rPr>
              <a:t>Preprint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00000"/>
                </a:solidFill>
              </a:rPr>
              <a:t>New AI Classifier for Indicating AI-Written Text — OpenAI (discontinued, 2023)
</a:t>
            </a:r>
            <a:r>
              <a:rPr sz="950">
                <a:solidFill>
                  <a:srgbClr val="6E6E6E"/>
                </a:solidFill>
              </a:rPr>
              <a:t>https://openai.com/index/new-ai-classifier-for-indicating-ai-written-text/
</a:t>
            </a:r>
            <a:r>
              <a:rPr sz="850" i="1">
                <a:solidFill>
                  <a:srgbClr val="6E6E6E"/>
                </a:solidFill>
              </a:rP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234440"/>
            <a:ext cx="3657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50" b="1">
                <a:solidFill>
                  <a:srgbClr val="000000"/>
                </a:solidFill>
              </a:rPr>
              <a:t>Guidance on AI detection; disabling Turnitin’s AI detector (Vanderbilt, 2023)
</a:t>
            </a:r>
            <a:r>
              <a:rPr sz="950">
                <a:solidFill>
                  <a:srgbClr val="6E6E6E"/>
                </a:solidFill>
              </a:rPr>
              <a:t>https://news.vanderbilt.edu/2023/08/16/guidance-on-ai-detection-and-why-were-disabling-turnitins-ai-detector/
</a:t>
            </a:r>
            <a:r>
              <a:rPr sz="850" i="1">
                <a:solidFill>
                  <a:srgbClr val="6E6E6E"/>
                </a:solidFill>
              </a:rPr>
              <a:t>Institution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00000"/>
                </a:solidFill>
              </a:rPr>
              <a:t>AI writing detection — update from Turnitin’s CPO (Turnitin, 2023)
</a:t>
            </a:r>
            <a:r>
              <a:rPr sz="950">
                <a:solidFill>
                  <a:srgbClr val="6E6E6E"/>
                </a:solidFill>
              </a:rPr>
              <a:t>https://www.turnitin.com/blog/ai-writing-detection-update-from-turnitins-chief-product-officer
</a:t>
            </a:r>
            <a:r>
              <a:rPr sz="850" i="1">
                <a:solidFill>
                  <a:srgbClr val="6E6E6E"/>
                </a:solidFill>
              </a:rPr>
              <a:t>Company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00000"/>
                </a:solidFill>
              </a:rPr>
              <a:t>All app content: model cards, benchmarks, and fact-checks cite dated primary sources (docs, papers, or vendor materials).
</a:t>
            </a:r>
            <a:r>
              <a:rPr sz="950">
                <a:solidFill>
                  <a:srgbClr val="6E6E6E"/>
                </a:solidFill>
              </a:rPr>
              <a:t>https://web-tau-peach-63.vercel.app
</a:t>
            </a:r>
            <a:r>
              <a:rPr sz="850" i="1">
                <a:solidFill>
                  <a:srgbClr val="6E6E6E"/>
                </a:solidFill>
              </a:rPr>
              <a:t>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343400"/>
            <a:ext cx="786384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6E6E"/>
                </a:solidFill>
              </a:defRPr>
            </a:pPr>
            <a:r>
              <a:t>arXiv.org  ·  OpenAI  ·  Vanderbilt  ·  Turnitin  —  + live app: https://web-tau-peach-63.vercel.app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Try the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188720"/>
            <a:ext cx="246888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0000"/>
                </a:solidFill>
              </a:defRPr>
            </a:pPr>
            <a:r>
              <a:t>https://web-tau-peach-63.vercel.app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69080"/>
            <a:ext cx="6949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A4A4A"/>
                </a:solidFill>
              </a:defRPr>
            </a:pPr>
            <a:r>
              <a:t>Free  ·  no login  ·  questions 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2628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